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22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7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504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[0:30]  Name, project, and the one line that separates us. Do not pause for effect yet.</a:t>
            </a:r>
          </a:p>
          <a:p>
            <a:endParaRPr/>
          </a:p>
          <a:p>
            <a:r>
              <a:t>NEXT:  Walk straight into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[0:45]  Frame the user before the technology. The navy box is the question nothing on the market answers — point at it.</a:t>
            </a:r>
          </a:p>
          <a:p>
            <a:endParaRPr/>
          </a:p>
          <a:p>
            <a:r>
              <a:t>NEXT:  "So we went and looked at what already exists."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 Be fair to the competition. The point is not that they are bad — it is that none of them can prove coverage, because nothing in them is counting.</a:t>
            </a:r>
          </a:p>
          <a:p>
            <a:endParaRPr/>
          </a:p>
          <a:p>
            <a:r>
              <a:t>NEXT:  "Which leaves four limitations the whole category shares."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 Limitation 04 is the one people underrate: a silent gate and a passing gate look identical to a user. Flag it now — you call back to it on slide 10.</a:t>
            </a:r>
          </a:p>
          <a:p>
            <a:endParaRPr/>
          </a:p>
          <a:p>
            <a:r>
              <a:t>NEXT:  Pause. Then: "So here is the problem, in one sentence."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[0:30]  Read it once, slowly. Pause two seconds. Do NOT paraphrase it afterwards.</a:t>
            </a:r>
          </a:p>
          <a:p>
            <a:endParaRPr/>
          </a:p>
          <a:p>
            <a:r>
              <a:t>NEXT:  "And here is the solution, also in one sentence."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[0:45]  Three cards = the whole argument: auditable, provable, falsifiable.</a:t>
            </a:r>
          </a:p>
          <a:p>
            <a:endParaRPr/>
          </a:p>
          <a:p>
            <a:r>
              <a:t>NEXT:  "Let me show you how that actually works."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[1:15]  Point at the amber card. That narrow column is the entire surface where a model's judgement can affect the paper.</a:t>
            </a:r>
          </a:p>
          <a:p>
            <a:endParaRPr/>
          </a:p>
          <a:p>
            <a:r>
              <a:t>NEXT:  "Which brings me to the part I most want to show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[1:15]  THE CONTRIBUTION SLIDE. The navy band is what we built and what the evaluation measures. Everything else is engineering around it.</a:t>
            </a:r>
          </a:p>
          <a:p>
            <a:endParaRPr/>
          </a:p>
          <a:p>
            <a:r>
              <a:t>NEXT:  "Here is how it is actually implemented."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[0:45]  Keep this fast — the detail lives on the architecture handout. Land the bottom line: code decides in 1, 2, 4, 5; the model writes in 3.</a:t>
            </a:r>
          </a:p>
          <a:p>
            <a:endParaRPr/>
          </a:p>
          <a:p>
            <a:r>
              <a:t>NEXT:  "Let me talk about those gates, because of limitation four."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 Call back to limitation 04 explicitly. The dark banner is the answer to it.</a:t>
            </a:r>
          </a:p>
          <a:p>
            <a:endParaRPr/>
          </a:p>
          <a:p>
            <a:r>
              <a:t>NEXT:  "So — does any of this actually work? We measured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[1:30]  If one slide decides the verdict it is this one. Deliver the caveat with the SAME energy as the number — volunteering it is what makes it credible.</a:t>
            </a:r>
          </a:p>
          <a:p>
            <a:endParaRPr/>
          </a:p>
          <a:p>
            <a:r>
              <a:t>NEXT:  "In fact, let me spend a whole slide on what we refuse to claim."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 Do not rush. A jury that sees you volunteer limits will trust the previous slide far more.</a:t>
            </a:r>
          </a:p>
          <a:p>
            <a:endParaRPr/>
          </a:p>
          <a:p>
            <a:r>
              <a:t>NEXT:  "And all of this is built and running today."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 Mutation testing is the line between this and a weekend prototype. Say it plainly.</a:t>
            </a:r>
          </a:p>
          <a:p>
            <a:endParaRPr/>
          </a:p>
          <a:p>
            <a:r>
              <a:t>NEXT:  "And here's where it goes next."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 The repo is already named Generator and Grader — this is the next MVP. Walk the loop left to right: today we generate; next, students answer, we grade, and their answers re-weight the solver. Objective marks come from the stored key, no model. Written answers are marked against the model answer and the cited passage; low-confidence marks are flagged for a teacher, and any mark can be contested — the same honesty as slide 12. The loop: mastered material makes way for material the student has not been tested on, and what they missed comes back as spaced re-tests. If asked whether it drills weak topics: no — a passage carries one question per paper, so it keeps weak material in rather than piling on; drilling is the review set’s job.</a:t>
            </a:r>
          </a:p>
          <a:p/>
          <a:p>
            <a:r>
              <a:t>NEXT:  "And here's how it pays for itself."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[0:30]  Land on the inversion, then STOP TALKING. Do not fill the silence — let the first question come to you.</a:t>
            </a:r>
          </a:p>
          <a:p>
            <a:endParaRPr/>
          </a:p>
          <a:p>
            <a:r>
              <a:t>NEXT:  — end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 Standard subscription, seven-day trial, no card required — many students don't have a credit card, and reviews of competitors' trials warn about surprise auto-renewals. Student pricing sits below Quizlet and well below StudyFetch and Chegg, with a regional rupee price. Marginal cost stays low because the model does so little: about four calls per paper, and a cached re-run costs nothing. Instructors pay for what students cannot get elsewhere — a coverage report for every paper, and the grader as it ships.</a:t>
            </a:r>
          </a:p>
          <a:p/>
          <a:p>
            <a:r>
              <a:t>NEXT:  "Let me finish where I started."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783080"/>
            <a:ext cx="82296" cy="201168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188720" y="16916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Prepify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28803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papers that prove what they cover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356616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constraint solver decides what every question must cover.  The language model only writes the words.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4983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Muhammad Abdur Rahman</a:t>
            </a:r>
            <a:r>
              <a:rPr lang="en-US" sz="13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Backend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Hadi Sheikh</a:t>
            </a:r>
            <a:r>
              <a:rPr lang="en-US" sz="13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Frontend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48640"/>
            <a:ext cx="173736" cy="1737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60120" y="4754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is only useful if it matches the course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96596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5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revising for a university exam has one authoritative source: the material they were actually taught.
Everything else is an approximation. </a:t>
            </a:r>
            <a:r>
              <a:rPr lang="en-US" sz="155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question bank tests a generic syllabus. </a:t>
            </a:r>
            <a:r>
              <a:rPr lang="en-US" sz="15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asked to “make me a quiz” tests whatever it happened to notice in the file.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4114800"/>
            <a:ext cx="6400800" cy="1417320"/>
          </a:xfrm>
          <a:prstGeom prst="roundRect">
            <a:avLst>
              <a:gd name="adj" fmla="val 3226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60120" y="43159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C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answers the one question that matters the night before an exam: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64515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paper cover what my course covered?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406640" y="1965960"/>
            <a:ext cx="411480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680960" y="2148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4231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revising from their own uploaded course material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3182112"/>
            <a:ext cx="411480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680960" y="33649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FOR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363931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wanting papers from what they actually taught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06640" y="4398264"/>
            <a:ext cx="411480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680960" y="45811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485546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lecturer's own PDF, PPTX or DOCX decks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48920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6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6327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Prepify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48640"/>
            <a:ext cx="173736" cy="1737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60120" y="4754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today, and what decides the content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965960"/>
          <a:ext cx="10881360" cy="33832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selects the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Proves coverage?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Traceable to you?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LLM chat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ChatGPT, Gemini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model, per prompt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study assistants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Quizlet, NotebookLM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model, over your upload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question banks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Chegg, Course Hero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Pre-authored, generic syllabus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your course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Prepify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constraint solver, from your material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measured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file and 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58368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is a good product. The difference is structural: in the first three, a model decides what matters — and nothing is counting.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6327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Prepify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48640"/>
            <a:ext cx="173736" cy="1737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60120" y="4754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LIMITATIONS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limitations the whole category shares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5321808" cy="1691640"/>
          </a:xfrm>
          <a:prstGeom prst="roundRect">
            <a:avLst>
              <a:gd name="adj" fmla="val 2703"/>
            </a:avLst>
          </a:prstGeom>
          <a:solidFill>
            <a:srgbClr val="122C44"/>
          </a:solidFill>
          <a:ln w="12700">
            <a:solidFill>
              <a:srgbClr val="1E46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32688" y="22128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709928" y="22494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chooses what matters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709928" y="2688336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difficulty and mark weight are decided inside a generation call. Coverage is a by-product, never a target.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321808" cy="1691640"/>
          </a:xfrm>
          <a:prstGeom prst="roundRect">
            <a:avLst>
              <a:gd name="adj" fmla="val 2703"/>
            </a:avLst>
          </a:prstGeom>
          <a:solidFill>
            <a:srgbClr val="122C44"/>
          </a:solidFill>
          <a:ln w="12700">
            <a:solidFill>
              <a:srgbClr val="1E46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92240" y="22128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2494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measurable proof of coverage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688336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number is produced that a student or examiner could check. “It looks thorough” is the only test available.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3931920"/>
            <a:ext cx="5321808" cy="1691640"/>
          </a:xfrm>
          <a:prstGeom prst="roundRect">
            <a:avLst>
              <a:gd name="adj" fmla="val 2703"/>
            </a:avLst>
          </a:prstGeom>
          <a:solidFill>
            <a:srgbClr val="122C44"/>
          </a:solidFill>
          <a:ln w="12700">
            <a:solidFill>
              <a:srgbClr val="1E46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32688" y="41330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709928" y="41696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are not verifiable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709928" y="4608576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source is shown, the model that wrote the question wrote it, so it cannot serve as evidence.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321808" cy="1691640"/>
          </a:xfrm>
          <a:prstGeom prst="roundRect">
            <a:avLst>
              <a:gd name="adj" fmla="val 2703"/>
            </a:avLst>
          </a:prstGeom>
          <a:solidFill>
            <a:srgbClr val="122C44"/>
          </a:solidFill>
          <a:ln w="12700">
            <a:solidFill>
              <a:srgbClr val="1E46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92240" y="41330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41696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and unchecked look identical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4608576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separates “validated and passed” from “validation never ran”. Both present as a clean paper.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6327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Prepify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48640"/>
            <a:ext cx="173736" cy="1737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60120" y="4754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76656" y="2103120"/>
            <a:ext cx="82296" cy="22860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97280" y="205740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revising from their own course material cannot obtain practice questions that are provably drawn from, and demonstrably cover, what they were actually taught.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 Everything that follows is an answer to it.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48640"/>
            <a:ext cx="173736" cy="1737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60120" y="4754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STATEMENT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463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1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deterministic code decide what each question must cover, and restrict the language model to </a:t>
            </a:r>
            <a:r>
              <a:rPr lang="en-US" sz="3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words</a:t>
            </a:r>
            <a:r>
              <a:rPr lang="en-US" sz="31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58368" y="3611880"/>
            <a:ext cx="3502152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3611880"/>
            <a:ext cx="3502152" cy="73152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50976" y="39136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4434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solver's choices can be inspected, counted and compared against a baseline. A model's cannot.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3611880"/>
            <a:ext cx="3502152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3400" y="3611880"/>
            <a:ext cx="3502152" cy="7315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36008" y="39136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4434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code assigned the passage, code can stamp the citation — never something the model invents.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8432" y="3611880"/>
            <a:ext cx="3502152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28432" y="3611880"/>
            <a:ext cx="3502152" cy="73152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321040" y="39136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Falsifiable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4434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“Covers the course better” becomes a number that can be measured, and disproved.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6327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Prepify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48640"/>
            <a:ext cx="173736" cy="1737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60120" y="4754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stages, and only one of them is a model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3502152" cy="3611880"/>
          </a:xfrm>
          <a:prstGeom prst="roundRect">
            <a:avLst>
              <a:gd name="adj" fmla="val 1305"/>
            </a:avLst>
          </a:prstGeom>
          <a:solidFill>
            <a:srgbClr val="122C44"/>
          </a:solidFill>
          <a:ln w="12700">
            <a:solidFill>
              <a:srgbClr val="1E46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50976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3310128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parses the decks and scores every section by instructional mass — how much teaching weight it carries.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51389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7F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502152" cy="3611880"/>
          </a:xfrm>
          <a:prstGeom prst="roundRect">
            <a:avLst>
              <a:gd name="adj" fmla="val 1305"/>
            </a:avLst>
          </a:prstGeom>
          <a:solidFill>
            <a:srgbClr val="122C44"/>
          </a:solidFill>
          <a:ln w="12700">
            <a:solidFill>
              <a:srgbClr val="1E46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36008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310128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constraint solver spreads slots across topics, Bloom levels and marks, binding each to one source passage. No two questions share a passage.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51389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7F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28432" y="2011680"/>
            <a:ext cx="3502152" cy="3611880"/>
          </a:xfrm>
          <a:prstGeom prst="roundRect">
            <a:avLst>
              <a:gd name="adj" fmla="val 1305"/>
            </a:avLst>
          </a:prstGeom>
          <a:solidFill>
            <a:srgbClr val="3A2A12"/>
          </a:solidFill>
          <a:ln w="254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21040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310128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receives one slot and one passage, and writes that single question. It never chooses topic, level or marks.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51389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ONLY JOB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— file and page — is stamped by code when the passage is assigned. The model is never asked for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48640"/>
            <a:ext cx="173736" cy="1737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60120" y="4754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architecture vs. proposed architecture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285232" cy="402336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32688" y="21396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— THE CATEGORY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32688" y="2578608"/>
            <a:ext cx="4736592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133856" y="27249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2688" y="3383280"/>
            <a:ext cx="4736592" cy="914400"/>
          </a:xfrm>
          <a:prstGeom prst="roundRect">
            <a:avLst>
              <a:gd name="adj" fmla="val 5000"/>
            </a:avLst>
          </a:prstGeom>
          <a:solidFill>
            <a:srgbClr val="FBE4E4"/>
          </a:solidFill>
          <a:ln w="25400">
            <a:solidFill>
              <a:srgbClr val="C9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133856" y="35295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3886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topic · difficulty · marks · wording · citation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32688" y="4535424"/>
            <a:ext cx="4736592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133856" y="46817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539496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opaque step. Nothing to audit, nothing to measure.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4496" y="1920240"/>
            <a:ext cx="5285232" cy="4023360"/>
          </a:xfrm>
          <a:prstGeom prst="roundRect">
            <a:avLst>
              <a:gd name="adj" fmla="val 1136"/>
            </a:avLst>
          </a:prstGeom>
          <a:solidFill>
            <a:srgbClr val="F4F9FD"/>
          </a:solidFill>
          <a:ln w="25400">
            <a:solidFill>
              <a:srgbClr val="0F4C81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528816" y="21396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— PREPIFY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28816" y="2578608"/>
            <a:ext cx="4736592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729984" y="26974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28816" y="3145536"/>
            <a:ext cx="4736592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729984" y="32644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map · instructional mass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28816" y="3712464"/>
            <a:ext cx="4736592" cy="493776"/>
          </a:xfrm>
          <a:prstGeom prst="roundRect">
            <a:avLst>
              <a:gd name="adj" fmla="val 9259"/>
            </a:avLst>
          </a:prstGeom>
          <a:solidFill>
            <a:srgbClr val="0F4C81"/>
          </a:solidFill>
          <a:ln w="254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729984" y="38313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solver — FOCUS AREA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28816" y="4279392"/>
            <a:ext cx="4736592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729984" y="439826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writes one question per slot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28816" y="4846320"/>
            <a:ext cx="4736592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729984" y="49651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validation gates → paper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28816" y="539496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is lifted out of the model and into code that can be measured.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6327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Prepify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48640"/>
            <a:ext cx="173736" cy="1737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60120" y="4754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implemented pipeline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58368" y="2194560"/>
            <a:ext cx="2020824" cy="2606040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2194560"/>
            <a:ext cx="2020824" cy="64008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41248" y="2395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688336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145536"/>
            <a:ext cx="1655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PPTX / DOCX parsed, chunked, embedded with BGE-M3, indexed in Qdrant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683764" y="3291840"/>
            <a:ext cx="242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21508" y="2194560"/>
            <a:ext cx="2020824" cy="2606040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21508" y="2194560"/>
            <a:ext cx="2020824" cy="64008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104388" y="2395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104388" y="2688336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3104388" y="3145536"/>
            <a:ext cx="1655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solver binds each slot to a topic and one source passage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946904" y="3291840"/>
            <a:ext cx="242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84648" y="2194560"/>
            <a:ext cx="2020824" cy="2606040"/>
          </a:xfrm>
          <a:prstGeom prst="roundRect">
            <a:avLst>
              <a:gd name="adj" fmla="val 2262"/>
            </a:avLst>
          </a:prstGeom>
          <a:solidFill>
            <a:srgbClr val="FFF6E8"/>
          </a:solidFill>
          <a:ln w="25400">
            <a:solidFill>
              <a:srgbClr val="E8A33D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84648" y="2194560"/>
            <a:ext cx="2020824" cy="640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67528" y="2395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07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367528" y="2688336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9A6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5367528" y="3145536"/>
            <a:ext cx="1655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model calls, one passage per question, spec-hash cached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210044" y="3291840"/>
            <a:ext cx="242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47788" y="2194560"/>
            <a:ext cx="2020824" cy="2606040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47788" y="2194560"/>
            <a:ext cx="2020824" cy="64008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630668" y="2395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630668" y="2688336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7630668" y="3145536"/>
            <a:ext cx="1655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· relevance · duplication · MCQ hygiene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473184" y="3291840"/>
            <a:ext cx="242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710928" y="2194560"/>
            <a:ext cx="2020824" cy="2606040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710928" y="2194560"/>
            <a:ext cx="2020824" cy="64008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9893808" y="2395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893808" y="2688336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9893808" y="3145536"/>
            <a:ext cx="1655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and answer key as HTML and PDF, plus a run manifest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5074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decides what to ask</a:t>
            </a: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stages 1, 2, 4, 5.        </a:t>
            </a:r>
            <a:r>
              <a:rPr lang="en-US" sz="1350" b="1" dirty="0">
                <a:solidFill>
                  <a:srgbClr val="9A6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writes the words</a:t>
            </a: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stage 3 only.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index also serves a chatbot over the student's material — hybrid retrieval, reranking, cited answers.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6327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Prepify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48640"/>
            <a:ext cx="173736" cy="1737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60120" y="4754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gates, and an honest record of each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5321808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2340864"/>
            <a:ext cx="457200" cy="4572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32688" y="2432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2585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263347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item parses into the declared contract, or it is rejected outright.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21808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2340864"/>
            <a:ext cx="457200" cy="4572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92240" y="2432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2585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63347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cross-encoder scores the item against its source passage and rejects off-topic text.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3639312"/>
            <a:ext cx="5321808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2688" y="3968496"/>
            <a:ext cx="457200" cy="4572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32688" y="4059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38862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72768" y="426110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is compared against the whole paper, not just its batch, so questions cannot repeat.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639312"/>
            <a:ext cx="5321808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92240" y="3968496"/>
            <a:ext cx="457200" cy="4572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492240" y="4059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8862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hygiene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426110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options and length outliers are caught, then options shuffle deterministically.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" y="5349240"/>
            <a:ext cx="10881360" cy="777240"/>
          </a:xfrm>
          <a:prstGeom prst="roundRect">
            <a:avLst>
              <a:gd name="adj" fmla="val 5882"/>
            </a:avLst>
          </a:prstGeom>
          <a:solidFill>
            <a:srgbClr val="0B2238"/>
          </a:solidFill>
          <a:ln w="12700">
            <a:solidFill>
              <a:srgbClr val="0B2238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60120" y="55595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manifest records, for every gate: </a:t>
            </a: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ran, what was skipped, and what came from cache</a:t>
            </a:r>
            <a:r>
              <a:rPr lang="en-US" sz="125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A gate that never ran can never be mistaken for a gate that passed.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48640"/>
            <a:ext cx="173736" cy="1737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60120" y="4754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solver actually cover more of the course?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0116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2.5–6.4×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32004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instructional mass covered by a random paper of identical shape — on all four blueprints tested.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" y="4434840"/>
            <a:ext cx="4114800" cy="1234440"/>
          </a:xfrm>
          <a:prstGeom prst="roundRect">
            <a:avLst>
              <a:gd name="adj" fmla="val 3704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46177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7A4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ten seeds on the authored blueprint, the solver beat every individual draw — not merely the mean.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38928" y="2011680"/>
          <a:ext cx="6400800" cy="2560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quiz_default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midterm_default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final_default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ai_fundamentals_v1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138928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 not show: denser content is not automatically a better exam. The evaluation states that limitation itself.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6327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Prepify</a:t>
            </a:r>
            <a:endParaRPr lang="en-US" sz="950" dirty="0"/>
          </a:p>
        </p:txBody>
      </p:sp>
      <p:sp>
        <p:nvSpPr>
          <p:cNvPr id="9" name="Text 9"/>
          <p:cNvSpPr txBox="1"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48640"/>
            <a:ext cx="173736" cy="1737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60120" y="4754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LIMITS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Prepify refuses to claim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76656" y="2112264"/>
            <a:ext cx="64008" cy="9601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24128" y="2057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claim a question is true.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478024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relevance gate rejects text that is not about the source material. It cannot separate a true claim from a false one — and we measured that rather than assuming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" y="3447288"/>
            <a:ext cx="64008" cy="9601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24128" y="339242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questions are labelled as invented.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3813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blueprints deliberately ask for synthesis items. On our reference paper, 8 of 20 are these, and every one prints as carrying no source.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" y="4782312"/>
            <a:ext cx="64008" cy="9601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24128" y="47274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skipped check is reported as skipped.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5148072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manifest distinguishes evaluated, not-applicable, skipped and served-from-cache. Silence is never presented as a pass.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5943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decision we could have hidden. Stating them is the product.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48640"/>
            <a:ext cx="173736" cy="1737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60120" y="4754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BUILT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system, not a prototype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58368" y="2066544"/>
            <a:ext cx="201168" cy="20116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51560" y="201168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Five-screen web client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3774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with live ingest progress, blueprint selection, streamed generation, the paper with a drag-to-reveal provenance card, and chat.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3364992"/>
            <a:ext cx="201168" cy="20116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51560" y="331012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laptop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67588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GPU. Local embeddings and vector store; bring your own API key.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4663440"/>
            <a:ext cx="201168" cy="20116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51560" y="460857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corpus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97433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real lecture decks; a 20-question paper with every citation resolving to a real file and page.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86600" y="2011680"/>
            <a:ext cx="2103120" cy="1234440"/>
          </a:xfrm>
          <a:prstGeom prst="roundRect">
            <a:avLst>
              <a:gd name="adj" fmla="val 3704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287768" y="21945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7287768" y="28163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C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372600" y="2011680"/>
            <a:ext cx="21031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573768" y="21945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573768" y="28163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86600" y="3474720"/>
            <a:ext cx="21031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287768" y="36576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7287768" y="42793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72600" y="3474720"/>
            <a:ext cx="21031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573768" y="36576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9573768" y="42793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required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are mutation-tested — a test that cannot fail is not coverage. An independent evaluation found 19 issues; the severity-1 findings were fixed and verified against live output.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6327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Prepify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48640"/>
            <a:ext cx="173736" cy="1737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60120" y="4754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6327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Prepify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29" name="Rounded Rectangle 28"/>
          <p:cNvSpPr/>
          <p:nvPr/>
        </p:nvSpPr>
        <p:spPr>
          <a:xfrm>
            <a:off x="658368" y="1783080"/>
            <a:ext cx="6629400" cy="4251960"/>
          </a:xfrm>
          <a:prstGeom prst="roundRect">
            <a:avLst>
              <a:gd name="adj" fmla="val 4000"/>
            </a:avLst>
          </a:prstGeom>
          <a:solidFill>
            <a:srgbClr val="0F4C81"/>
          </a:solidFill>
          <a:ln>
            <a:noFill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976" y="1984248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4FD1C5"/>
                </a:solidFill>
                <a:latin typeface="Calibri"/>
              </a:rPr>
              <a:t>THE NEXT MVP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224028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A grader, built on the existing generator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" y="2816352"/>
            <a:ext cx="12984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spc="150">
                <a:solidFill>
                  <a:srgbClr val="9EC3E3"/>
                </a:solidFill>
                <a:latin typeface="Calibri"/>
              </a:rPr>
              <a:t>TODAY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51176" y="2816352"/>
            <a:ext cx="4498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spc="150">
                <a:solidFill>
                  <a:srgbClr val="4FD1C5"/>
                </a:solidFill>
                <a:latin typeface="Calibri"/>
              </a:rPr>
              <a:t>NEW — THE GRADER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" y="3054096"/>
            <a:ext cx="1298448" cy="530352"/>
          </a:xfrm>
          <a:prstGeom prst="roundRect">
            <a:avLst>
              <a:gd name="adj" fmla="val 25000"/>
            </a:avLst>
          </a:prstGeom>
          <a:solidFill>
            <a:srgbClr val="1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3054096"/>
            <a:ext cx="118871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CFE2F3"/>
                </a:solidFill>
                <a:latin typeface="Calibri"/>
              </a:rPr>
              <a:t>Generate paper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286000" y="3319272"/>
            <a:ext cx="228600" cy="0"/>
          </a:xfrm>
          <a:prstGeom prst="line">
            <a:avLst/>
          </a:prstGeom>
          <a:ln w="19050">
            <a:solidFill>
              <a:srgbClr val="CFE2F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551176" y="3054096"/>
            <a:ext cx="1298448" cy="530352"/>
          </a:xfrm>
          <a:prstGeom prst="roundRect">
            <a:avLst>
              <a:gd name="adj" fmla="val 25000"/>
            </a:avLst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606040" y="3054096"/>
            <a:ext cx="118871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0B2238"/>
                </a:solidFill>
                <a:latin typeface="Calibri"/>
              </a:rPr>
              <a:t>Student answers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886200" y="3319272"/>
            <a:ext cx="228600" cy="0"/>
          </a:xfrm>
          <a:prstGeom prst="line">
            <a:avLst/>
          </a:prstGeom>
          <a:ln w="19050">
            <a:solidFill>
              <a:srgbClr val="CFE2F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151376" y="3054096"/>
            <a:ext cx="1298448" cy="530352"/>
          </a:xfrm>
          <a:prstGeom prst="roundRect">
            <a:avLst>
              <a:gd name="adj" fmla="val 25000"/>
            </a:avLst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06240" y="3054096"/>
            <a:ext cx="118871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0B2238"/>
                </a:solidFill>
                <a:latin typeface="Calibri"/>
              </a:rPr>
              <a:t>Grade answers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0" y="3319272"/>
            <a:ext cx="228600" cy="0"/>
          </a:xfrm>
          <a:prstGeom prst="line">
            <a:avLst/>
          </a:prstGeom>
          <a:ln w="19050">
            <a:solidFill>
              <a:srgbClr val="CFE2F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751576" y="3054096"/>
            <a:ext cx="1298448" cy="530352"/>
          </a:xfrm>
          <a:prstGeom prst="roundRect">
            <a:avLst>
              <a:gd name="adj" fmla="val 25000"/>
            </a:avLst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06440" y="3054096"/>
            <a:ext cx="118871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0B2238"/>
                </a:solidFill>
                <a:latin typeface="Calibri"/>
              </a:rPr>
              <a:t>Re-weight next paper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400800" y="3602736"/>
            <a:ext cx="0" cy="164592"/>
          </a:xfrm>
          <a:prstGeom prst="line">
            <a:avLst/>
          </a:prstGeom>
          <a:ln w="19050">
            <a:solidFill>
              <a:srgbClr val="4FD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600200" y="3767328"/>
            <a:ext cx="4800600" cy="0"/>
          </a:xfrm>
          <a:prstGeom prst="line">
            <a:avLst/>
          </a:prstGeom>
          <a:ln w="19050">
            <a:solidFill>
              <a:srgbClr val="4FD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600200" y="3621024"/>
            <a:ext cx="0" cy="146304"/>
          </a:xfrm>
          <a:prstGeom prst="line">
            <a:avLst/>
          </a:prstGeom>
          <a:ln w="19050">
            <a:solidFill>
              <a:srgbClr val="4FD1C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600200" y="3813048"/>
            <a:ext cx="4800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4FD1C5"/>
                </a:solidFill>
                <a:latin typeface="Calibri"/>
              </a:rPr>
              <a:t>your answers shape the next paper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76" y="4261104"/>
            <a:ext cx="100584" cy="10058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88720" y="4187952"/>
            <a:ext cx="5897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FE2F3"/>
                </a:solidFill>
                <a:latin typeface="Calibri"/>
              </a:rPr>
              <a:t>MCQ and true/false marked against the stored key — deterministic, no model.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0976" y="4681728"/>
            <a:ext cx="100584" cy="10058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88720" y="4608576"/>
            <a:ext cx="5897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FE2F3"/>
                </a:solidFill>
                <a:latin typeface="Calibri"/>
              </a:rPr>
              <a:t>Written answers marked against the model answer and the question's own cited passage.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6" y="5102352"/>
            <a:ext cx="100584" cy="10058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188720" y="5029200"/>
            <a:ext cx="5897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FE2F3"/>
                </a:solidFill>
                <a:latin typeface="Calibri"/>
              </a:rPr>
              <a:t>Low-confidence marks say “check with your teacher”; feedback names the page to revise.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76" y="5522976"/>
            <a:ext cx="100584" cy="10058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88720" y="5449824"/>
            <a:ext cx="5897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FE2F3"/>
                </a:solidFill>
                <a:latin typeface="Calibri"/>
              </a:rPr>
              <a:t>Mastered material makes way for untested material; misses return as spaced re-tests.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1783080"/>
            <a:ext cx="3995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F4C81"/>
                </a:solidFill>
                <a:latin typeface="Calibri"/>
              </a:rPr>
              <a:t>ALSO ON THE ROADMAP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2048256"/>
            <a:ext cx="39959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6B7A8C"/>
                </a:solidFill>
                <a:latin typeface="Calibri"/>
              </a:rPr>
              <a:t>from the project's engineering tracker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43800" y="2359152"/>
            <a:ext cx="3995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2EE"/>
            </a:solidFill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44968" y="2478024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F4C81"/>
                </a:solidFill>
                <a:latin typeface="Calibri"/>
              </a:rPr>
              <a:t>Entailment check by default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44968" y="2770632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620"/>
                </a:solidFill>
                <a:latin typeface="Calibri"/>
              </a:rPr>
              <a:t>An NLI model tests whether each cited passage supports its answer.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43800" y="3282696"/>
            <a:ext cx="3995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2EE"/>
            </a:solidFill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744968" y="3401568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F4C81"/>
                </a:solidFill>
                <a:latin typeface="Calibri"/>
              </a:rPr>
              <a:t>OCR for scanned slides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44968" y="3694176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620"/>
                </a:solidFill>
                <a:latin typeface="Calibri"/>
              </a:rPr>
              <a:t>Image-only pages are skipped today.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43800" y="4206240"/>
            <a:ext cx="3995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2EE"/>
            </a:solidFill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744968" y="432511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F4C81"/>
                </a:solidFill>
                <a:latin typeface="Calibri"/>
              </a:rPr>
              <a:t>Blueprints from past papers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4968" y="4617720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620"/>
                </a:solidFill>
                <a:latin typeface="Calibri"/>
              </a:rPr>
              <a:t>Fit an exam's shape from an uploaded past paper.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43800" y="5129784"/>
            <a:ext cx="3995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2EE"/>
            </a:solidFill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44968" y="5248656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F4C81"/>
                </a:solidFill>
                <a:latin typeface="Calibri"/>
              </a:rPr>
              <a:t>Table of Specifications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44968" y="5541264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620"/>
                </a:solidFill>
                <a:latin typeface="Calibri"/>
              </a:rPr>
              <a:t>Topics × Bloom levels, for instructors.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48640"/>
            <a:ext cx="173736" cy="1737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60120" y="4754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· 7-DAY TRIAL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6327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Prepify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29" name="Rounded Rectangle 28"/>
          <p:cNvSpPr/>
          <p:nvPr/>
        </p:nvSpPr>
        <p:spPr>
          <a:xfrm>
            <a:off x="658368" y="1755648"/>
            <a:ext cx="6903720" cy="530352"/>
          </a:xfrm>
          <a:prstGeom prst="roundRect">
            <a:avLst>
              <a:gd name="adj" fmla="val 12000"/>
            </a:avLst>
          </a:prstGeom>
          <a:solidFill>
            <a:srgbClr val="0F4C81"/>
          </a:solidFill>
          <a:ln>
            <a:noFill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96112" y="1755648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4FD1C5"/>
                </a:solidFill>
                <a:latin typeface="Calibri"/>
              </a:rPr>
              <a:t>7-DAY FREE TRIAL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1755648"/>
            <a:ext cx="4617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CFE2F3"/>
                </a:solidFill>
                <a:latin typeface="Calibri"/>
              </a:rPr>
              <a:t>Full Student access  ·  no card required  ·  cancel any 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2542032"/>
            <a:ext cx="2197303" cy="2670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2EE"/>
            </a:solidFill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59536" y="2761487"/>
            <a:ext cx="1794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0F4C81"/>
                </a:solidFill>
                <a:latin typeface="Calibri"/>
              </a:rPr>
              <a:t>STUDENT · MONTHLY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2999232"/>
            <a:ext cx="17949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4C81"/>
                </a:solidFill>
                <a:latin typeface="Calibri"/>
              </a:rPr>
              <a:t>$5.99</a:t>
            </a:r>
            <a:r>
              <a:rPr sz="1200" b="0" i="0">
                <a:solidFill>
                  <a:srgbClr val="6B7A8C"/>
                </a:solidFill>
                <a:latin typeface="Calibri"/>
              </a:rPr>
              <a:t> / 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3547872"/>
            <a:ext cx="1794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B7A8C"/>
                </a:solidFill>
                <a:latin typeface="Calibri"/>
              </a:rPr>
              <a:t>PKR 999/month in Pakistan</a:t>
            </a:r>
          </a:p>
        </p:txBody>
      </p:sp>
      <p:sp>
        <p:nvSpPr>
          <p:cNvPr id="36" name="Oval 35"/>
          <p:cNvSpPr/>
          <p:nvPr/>
        </p:nvSpPr>
        <p:spPr>
          <a:xfrm>
            <a:off x="859536" y="4023360"/>
            <a:ext cx="91440" cy="9144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5" y="3959352"/>
            <a:ext cx="1612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620"/>
                </a:solidFill>
                <a:latin typeface="Calibri"/>
              </a:rPr>
              <a:t>Upload your own decks</a:t>
            </a:r>
          </a:p>
        </p:txBody>
      </p:sp>
      <p:sp>
        <p:nvSpPr>
          <p:cNvPr id="38" name="Oval 37"/>
          <p:cNvSpPr/>
          <p:nvPr/>
        </p:nvSpPr>
        <p:spPr>
          <a:xfrm>
            <a:off x="859536" y="4389120"/>
            <a:ext cx="91440" cy="9144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415" y="4325112"/>
            <a:ext cx="1612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620"/>
                </a:solidFill>
                <a:latin typeface="Calibri"/>
              </a:rPr>
              <a:t>Papers with page citations</a:t>
            </a:r>
          </a:p>
        </p:txBody>
      </p:sp>
      <p:sp>
        <p:nvSpPr>
          <p:cNvPr id="40" name="Oval 39"/>
          <p:cNvSpPr/>
          <p:nvPr/>
        </p:nvSpPr>
        <p:spPr>
          <a:xfrm>
            <a:off x="859536" y="4754880"/>
            <a:ext cx="91440" cy="9144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5" y="4690872"/>
            <a:ext cx="1612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620"/>
                </a:solidFill>
                <a:latin typeface="Calibri"/>
              </a:rPr>
              <a:t>Chat over your material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1119" y="2542032"/>
            <a:ext cx="2197303" cy="2670048"/>
          </a:xfrm>
          <a:prstGeom prst="roundRect">
            <a:avLst>
              <a:gd name="adj" fmla="val 6000"/>
            </a:avLst>
          </a:prstGeom>
          <a:solidFill>
            <a:srgbClr val="0F4C81"/>
          </a:solidFill>
          <a:ln>
            <a:noFill/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212287" y="2761487"/>
            <a:ext cx="1794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4FD1C5"/>
                </a:solidFill>
                <a:latin typeface="Calibri"/>
              </a:rPr>
              <a:t>STUDENT · ANNUAL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12287" y="2999232"/>
            <a:ext cx="17949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$39.99</a:t>
            </a:r>
            <a:r>
              <a:rPr sz="1200" b="0" i="0">
                <a:solidFill>
                  <a:srgbClr val="9EC3E3"/>
                </a:solidFill>
                <a:latin typeface="Calibri"/>
              </a:rPr>
              <a:t> / year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12287" y="3547872"/>
            <a:ext cx="1794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9EC3E3"/>
                </a:solidFill>
                <a:latin typeface="Calibri"/>
              </a:rPr>
              <a:t>PKR 6,999/year in Pakistan</a:t>
            </a:r>
          </a:p>
        </p:txBody>
      </p:sp>
      <p:sp>
        <p:nvSpPr>
          <p:cNvPr id="46" name="Oval 45"/>
          <p:cNvSpPr/>
          <p:nvPr/>
        </p:nvSpPr>
        <p:spPr>
          <a:xfrm>
            <a:off x="3212287" y="4023360"/>
            <a:ext cx="91440" cy="91440"/>
          </a:xfrm>
          <a:prstGeom prst="ellipse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95167" y="3959352"/>
            <a:ext cx="1612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E2F3"/>
                </a:solidFill>
                <a:latin typeface="Calibri"/>
              </a:rPr>
              <a:t>Everything in Monthly</a:t>
            </a:r>
          </a:p>
        </p:txBody>
      </p:sp>
      <p:sp>
        <p:nvSpPr>
          <p:cNvPr id="48" name="Oval 47"/>
          <p:cNvSpPr/>
          <p:nvPr/>
        </p:nvSpPr>
        <p:spPr>
          <a:xfrm>
            <a:off x="3212287" y="4389120"/>
            <a:ext cx="91440" cy="91440"/>
          </a:xfrm>
          <a:prstGeom prst="ellipse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95167" y="4325112"/>
            <a:ext cx="1612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E2F3"/>
                </a:solidFill>
                <a:latin typeface="Calibri"/>
              </a:rPr>
              <a:t>$3.33 a month, save 44%</a:t>
            </a:r>
          </a:p>
        </p:txBody>
      </p:sp>
      <p:sp>
        <p:nvSpPr>
          <p:cNvPr id="50" name="Oval 49"/>
          <p:cNvSpPr/>
          <p:nvPr/>
        </p:nvSpPr>
        <p:spPr>
          <a:xfrm>
            <a:off x="3212287" y="4754880"/>
            <a:ext cx="91440" cy="91440"/>
          </a:xfrm>
          <a:prstGeom prst="ellipse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95167" y="4690872"/>
            <a:ext cx="1612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E2F3"/>
                </a:solidFill>
                <a:latin typeface="Calibri"/>
              </a:rPr>
              <a:t>Covers the academic year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06850" y="2423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606850" y="242316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150">
                <a:solidFill>
                  <a:srgbClr val="0B2238"/>
                </a:solidFill>
                <a:latin typeface="Calibri"/>
              </a:rPr>
              <a:t>BEST VALUE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63870" y="2542032"/>
            <a:ext cx="2197303" cy="2670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2EE"/>
            </a:solidFill>
          </a:ln>
          <a:effectLst>
            <a:outerShdw blurRad="177800" dist="38100" dir="5400000" algn="bl" rotWithShape="0">
              <a:srgbClr val="0B223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5565038" y="2761487"/>
            <a:ext cx="1794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0F4C81"/>
                </a:solidFill>
                <a:latin typeface="Calibri"/>
              </a:rPr>
              <a:t>INSTRUCTOR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65038" y="2999232"/>
            <a:ext cx="17949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4C81"/>
                </a:solidFill>
                <a:latin typeface="Calibri"/>
              </a:rPr>
              <a:t>$9.99</a:t>
            </a:r>
            <a:r>
              <a:rPr sz="1200" b="0" i="0">
                <a:solidFill>
                  <a:srgbClr val="6B7A8C"/>
                </a:solidFill>
                <a:latin typeface="Calibri"/>
              </a:rPr>
              <a:t> / month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65038" y="3547872"/>
            <a:ext cx="1794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B7A8C"/>
                </a:solidFill>
                <a:latin typeface="Calibri"/>
              </a:rPr>
              <a:t>30-day department pilot</a:t>
            </a:r>
          </a:p>
        </p:txBody>
      </p:sp>
      <p:sp>
        <p:nvSpPr>
          <p:cNvPr id="58" name="Oval 57"/>
          <p:cNvSpPr/>
          <p:nvPr/>
        </p:nvSpPr>
        <p:spPr>
          <a:xfrm>
            <a:off x="5565038" y="4023360"/>
            <a:ext cx="91440" cy="9144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47918" y="3959352"/>
            <a:ext cx="1612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620"/>
                </a:solidFill>
                <a:latin typeface="Calibri"/>
              </a:rPr>
              <a:t>Papers for a whole class</a:t>
            </a:r>
          </a:p>
        </p:txBody>
      </p:sp>
      <p:sp>
        <p:nvSpPr>
          <p:cNvPr id="60" name="Oval 59"/>
          <p:cNvSpPr/>
          <p:nvPr/>
        </p:nvSpPr>
        <p:spPr>
          <a:xfrm>
            <a:off x="5565038" y="4389120"/>
            <a:ext cx="91440" cy="9144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47918" y="4325112"/>
            <a:ext cx="1612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620"/>
                </a:solidFill>
                <a:latin typeface="Calibri"/>
              </a:rPr>
              <a:t>Coverage report per paper</a:t>
            </a:r>
          </a:p>
        </p:txBody>
      </p:sp>
      <p:sp>
        <p:nvSpPr>
          <p:cNvPr id="62" name="Oval 61"/>
          <p:cNvSpPr/>
          <p:nvPr/>
        </p:nvSpPr>
        <p:spPr>
          <a:xfrm>
            <a:off x="5565038" y="4754880"/>
            <a:ext cx="91440" cy="9144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47918" y="4690872"/>
            <a:ext cx="1612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620"/>
                </a:solidFill>
                <a:latin typeface="Calibri"/>
              </a:rPr>
              <a:t>Grader as it ships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18120" y="1755648"/>
            <a:ext cx="3721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F4C81"/>
                </a:solidFill>
                <a:latin typeface="Calibri"/>
              </a:rPr>
              <a:t>BENCHMARKED AGAINST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18120" y="2011680"/>
            <a:ext cx="3721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B7A8C"/>
                </a:solidFill>
                <a:latin typeface="Calibri"/>
              </a:rPr>
              <a:t>reported prices, October 2026</a:t>
            </a:r>
          </a:p>
        </p:txBody>
      </p:sp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7818120" y="2331720"/>
          <a:ext cx="3721608" cy="2432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5880"/>
                <a:gridCol w="713232"/>
                <a:gridCol w="841248"/>
                <a:gridCol w="841248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73152" marR="73152" marT="27432" marB="27432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Annual</a:t>
                      </a:r>
                    </a:p>
                  </a:txBody>
                  <a:tcPr marL="73152" marR="73152" marT="27432" marB="27432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Trial</a:t>
                      </a:r>
                    </a:p>
                  </a:txBody>
                  <a:tcPr marL="73152" marR="73152" marT="27432" marB="27432" anchor="ctr">
                    <a:solidFill>
                      <a:srgbClr val="0F4C8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620"/>
                          </a:solidFill>
                          <a:latin typeface="Calibri"/>
                        </a:rPr>
                        <a:t>Quizlet Plus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620"/>
                          </a:solidFill>
                          <a:latin typeface="Calibri"/>
                        </a:rPr>
                        <a:t>$7.99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620"/>
                          </a:solidFill>
                          <a:latin typeface="Calibri"/>
                        </a:rPr>
                        <a:t>$35.99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620"/>
                          </a:solidFill>
                          <a:latin typeface="Calibri"/>
                        </a:rPr>
                        <a:t>7 days*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620"/>
                          </a:solidFill>
                          <a:latin typeface="Calibri"/>
                        </a:rPr>
                        <a:t>StudyFetch</a:t>
                      </a:r>
                    </a:p>
                  </a:txBody>
                  <a:tcPr marL="73152" marR="73152" marT="27432" marB="27432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620"/>
                          </a:solidFill>
                          <a:latin typeface="Calibri"/>
                        </a:rPr>
                        <a:t>$11.99</a:t>
                      </a:r>
                    </a:p>
                  </a:txBody>
                  <a:tcPr marL="73152" marR="73152" marT="27432" marB="27432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620"/>
                          </a:solidFill>
                          <a:latin typeface="Calibri"/>
                        </a:rPr>
                        <a:t>$99.99</a:t>
                      </a:r>
                    </a:p>
                  </a:txBody>
                  <a:tcPr marL="73152" marR="73152" marT="27432" marB="27432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620"/>
                          </a:solidFill>
                          <a:latin typeface="Calibri"/>
                        </a:rPr>
                        <a:t>7 days</a:t>
                      </a:r>
                    </a:p>
                  </a:txBody>
                  <a:tcPr marL="73152" marR="73152" marT="27432" marB="27432" anchor="ctr">
                    <a:solidFill>
                      <a:srgbClr val="F6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620"/>
                          </a:solidFill>
                          <a:latin typeface="Calibri"/>
                        </a:rPr>
                        <a:t>Chegg Study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620"/>
                          </a:solidFill>
                          <a:latin typeface="Calibri"/>
                        </a:rPr>
                        <a:t>$15.95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6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620"/>
                          </a:solidFill>
                          <a:latin typeface="Calibri"/>
                        </a:rPr>
                        <a:t>7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620"/>
                          </a:solidFill>
                          <a:latin typeface="Calibri"/>
                        </a:rPr>
                        <a:t>Quizgecko</a:t>
                      </a:r>
                    </a:p>
                  </a:txBody>
                  <a:tcPr marL="73152" marR="73152" marT="27432" marB="27432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620"/>
                          </a:solidFill>
                          <a:latin typeface="Calibri"/>
                        </a:rPr>
                        <a:t>$16</a:t>
                      </a:r>
                    </a:p>
                  </a:txBody>
                  <a:tcPr marL="73152" marR="73152" marT="27432" marB="27432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6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6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6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620"/>
                          </a:solidFill>
                          <a:latin typeface="Calibri"/>
                        </a:rPr>
                        <a:t>Maqsad (PK) 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620"/>
                          </a:solidFill>
                          <a:latin typeface="Calibri"/>
                        </a:rPr>
                        <a:t>≈ $4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620"/>
                          </a:solidFill>
                          <a:latin typeface="Calibri"/>
                        </a:rPr>
                        <a:t>Rs 7,500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620"/>
                          </a:solidFill>
                          <a:latin typeface="Calibri"/>
                        </a:rPr>
                        <a:t>free class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4C81"/>
                          </a:solidFill>
                          <a:latin typeface="Calibri"/>
                        </a:rPr>
                        <a:t>Prepify</a:t>
                      </a:r>
                    </a:p>
                  </a:txBody>
                  <a:tcPr marL="73152" marR="73152" marT="27432" marB="27432"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4C81"/>
                          </a:solidFill>
                          <a:latin typeface="Calibri"/>
                        </a:rPr>
                        <a:t>$5.99</a:t>
                      </a:r>
                    </a:p>
                  </a:txBody>
                  <a:tcPr marL="73152" marR="73152" marT="27432" marB="27432"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4C81"/>
                          </a:solidFill>
                          <a:latin typeface="Calibri"/>
                        </a:rPr>
                        <a:t>$39.99</a:t>
                      </a:r>
                    </a:p>
                  </a:txBody>
                  <a:tcPr marL="73152" marR="73152" marT="27432" marB="27432"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4C81"/>
                          </a:solidFill>
                          <a:latin typeface="Calibri"/>
                        </a:rPr>
                        <a:t>7 days</a:t>
                      </a:r>
                    </a:p>
                  </a:txBody>
                  <a:tcPr marL="73152" marR="73152" marT="27432" marB="27432" anchor="ctr">
                    <a:solidFill>
                      <a:srgbClr val="E3EEF8"/>
                    </a:solidFill>
                  </a:tcPr>
                </a:tc>
              </a:tr>
            </a:tbl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7818120" y="4837176"/>
            <a:ext cx="37216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A8C"/>
                </a:solidFill>
                <a:latin typeface="Calibri"/>
              </a:rPr>
              <a:t>* Quizlet's trial applies to annual plans only.  † Undated listing; Rs 7,500 is a year-long prep batch. Third-party listings — official pricing pages could not be verified.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8368" y="5413248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D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868680" y="5413248"/>
            <a:ext cx="1005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0F4C81"/>
                </a:solidFill>
                <a:latin typeface="Calibri"/>
              </a:rPr>
              <a:t>UNIT COST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74519" y="5413248"/>
            <a:ext cx="4160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F1620"/>
                </a:solidFill>
                <a:latin typeface="Calibri"/>
              </a:rPr>
              <a:t>≈4 model calls per 20-question paper; a cached re-run costs nothing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2200" y="5413248"/>
            <a:ext cx="914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0F4C81"/>
                </a:solidFill>
                <a:latin typeface="Calibri"/>
              </a:rPr>
              <a:t>CHANNELS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86600" y="5413248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F1620"/>
                </a:solidFill>
                <a:latin typeface="Calibri"/>
              </a:rPr>
              <a:t>Web app  ·  department licences  ·  card, JazzCash or Easypaisa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decides what to ask.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writes the words.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inversion turns “this looks thorough” into a number you can check.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41248" y="4572000"/>
            <a:ext cx="64008" cy="1051560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170432" y="4553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github.com/Abdur548/Prepify-Exam-Generator-and-Grader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495604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Muhammad Abdur Rahman</a:t>
            </a:r>
            <a:r>
              <a:rPr lang="en-US" sz="1250" dirty="0">
                <a:solidFill>
                  <a:srgbClr val="8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Backend      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Hadi Sheikh</a:t>
            </a:r>
            <a:r>
              <a:rPr lang="en-US" sz="1250" dirty="0">
                <a:solidFill>
                  <a:srgbClr val="8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Frontend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5376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b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2169</Words>
  <Application>Microsoft Office PowerPoint</Application>
  <PresentationFormat>Widescreen</PresentationFormat>
  <Paragraphs>296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Prepify</dc:title>
  <dc:subject>PptxGenJS Presentation</dc:subject>
  <dc:creator>Syed Muhammad Abdur Rahman, Abdul Hadi Sheikh</dc:creator>
  <cp:lastModifiedBy>Syed Muhammad Abdur Rahman</cp:lastModifiedBy>
  <cp:revision>2</cp:revision>
  <dcterms:created xsi:type="dcterms:W3CDTF">2026-10-10T13:33:23Z</dcterms:created>
  <dcterms:modified xsi:type="dcterms:W3CDTF">2026-10-11T03:52:14Z</dcterms:modified>
</cp:coreProperties>
</file>